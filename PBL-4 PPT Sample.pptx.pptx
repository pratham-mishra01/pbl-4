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" charset="1" panose="020B0004020202020204"/>
      <p:regular r:id="rId20"/>
    </p:embeddedFont>
    <p:embeddedFont>
      <p:font typeface="Aptos Bold" charset="1" panose="020B0004020202020204"/>
      <p:regular r:id="rId21"/>
    </p:embeddedFont>
    <p:embeddedFont>
      <p:font typeface="Canva Sans" charset="1" panose="020B0503030501040103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31607" y="4195066"/>
            <a:ext cx="13721315" cy="1951866"/>
            <a:chOff x="0" y="0"/>
            <a:chExt cx="18288000" cy="2601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601484"/>
            </a:xfrm>
            <a:custGeom>
              <a:avLst/>
              <a:gdLst/>
              <a:ahLst/>
              <a:cxnLst/>
              <a:rect r="r" b="b" t="t" l="l"/>
              <a:pathLst>
                <a:path h="2601484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601484"/>
                  </a:lnTo>
                  <a:lnTo>
                    <a:pt x="0" y="26014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75" r="0" b="-745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8288000" cy="25348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Classification of Astronomical Objects using Machine Learning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7556" y="7429814"/>
            <a:ext cx="7441759" cy="19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Submitted By: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Pratham Mishra-23FE10CSE00586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Gauri Sharma-23FE10CSE00717</a:t>
            </a:r>
          </a:p>
          <a:p>
            <a:pPr algn="ctr">
              <a:lnSpc>
                <a:spcPts val="388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904240" y="7419175"/>
            <a:ext cx="4676204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Mr. Tapan Kumar Dey</a:t>
            </a:r>
          </a:p>
          <a:p>
            <a:pPr algn="ctr">
              <a:lnSpc>
                <a:spcPts val="388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51133" y="54054"/>
            <a:ext cx="6261059" cy="1834115"/>
            <a:chOff x="0" y="0"/>
            <a:chExt cx="8348078" cy="2445487"/>
          </a:xfrm>
        </p:grpSpPr>
        <p:sp>
          <p:nvSpPr>
            <p:cNvPr name="Freeform 8" id="8" descr="A black and white text  AI-generated content may be incorrect."/>
            <p:cNvSpPr/>
            <p:nvPr/>
          </p:nvSpPr>
          <p:spPr>
            <a:xfrm flipH="false" flipV="false" rot="0">
              <a:off x="0" y="0"/>
              <a:ext cx="8348091" cy="2445512"/>
            </a:xfrm>
            <a:custGeom>
              <a:avLst/>
              <a:gdLst/>
              <a:ahLst/>
              <a:cxnLst/>
              <a:rect r="r" b="b" t="t" l="l"/>
              <a:pathLst>
                <a:path h="2445512" w="8348091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1315" y="1888179"/>
            <a:ext cx="13716000" cy="1668418"/>
            <a:chOff x="0" y="0"/>
            <a:chExt cx="18288000" cy="22245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224552"/>
            </a:xfrm>
            <a:custGeom>
              <a:avLst/>
              <a:gdLst/>
              <a:ahLst/>
              <a:cxnLst/>
              <a:rect r="r" b="b" t="t" l="l"/>
              <a:pathLst>
                <a:path h="22245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24552"/>
                  </a:lnTo>
                  <a:lnTo>
                    <a:pt x="0" y="2224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186" r="0" b="-1101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8288000" cy="23102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Outline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831783"/>
            <a:ext cx="15590520" cy="638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Introduction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Literature Review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Problem Statement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Proposed Solution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Objectives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Results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Introduction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3390" y="2320603"/>
            <a:ext cx="15681960" cy="693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2098" indent="-456049" lvl="1">
              <a:lnSpc>
                <a:spcPts val="5492"/>
              </a:lnSpc>
              <a:buFont typeface="Arial"/>
              <a:buChar char="•"/>
            </a:pPr>
            <a:r>
              <a:rPr lang="en-US" sz="42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Automates classification of stars, galaxies, and quasars using machine learning</a:t>
            </a:r>
          </a:p>
          <a:p>
            <a:pPr algn="l" marL="912098" indent="-456049" lvl="1">
              <a:lnSpc>
                <a:spcPts val="5492"/>
              </a:lnSpc>
              <a:buFont typeface="Arial"/>
              <a:buChar char="•"/>
            </a:pPr>
            <a:r>
              <a:rPr lang="en-US" sz="42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Utilizes labeled data from large-scale SDSS.</a:t>
            </a:r>
          </a:p>
          <a:p>
            <a:pPr algn="l" marL="912098" indent="-456049" lvl="1">
              <a:lnSpc>
                <a:spcPts val="5492"/>
              </a:lnSpc>
              <a:buFont typeface="Arial"/>
              <a:buChar char="•"/>
            </a:pPr>
            <a:r>
              <a:rPr lang="en-US" sz="42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Implements an end-to-end pipeline: preprocessing, model training, evaluation, and visualization</a:t>
            </a:r>
          </a:p>
          <a:p>
            <a:pPr algn="l" marL="912098" indent="-456049" lvl="1">
              <a:lnSpc>
                <a:spcPts val="5492"/>
              </a:lnSpc>
              <a:buFont typeface="Arial"/>
              <a:buChar char="•"/>
            </a:pPr>
            <a:r>
              <a:rPr lang="en-US" sz="42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Aims to improve accuracy and efficiency in astronomical data analysis</a:t>
            </a:r>
          </a:p>
          <a:p>
            <a:pPr algn="l" marL="912098" indent="-456049" lvl="1">
              <a:lnSpc>
                <a:spcPts val="5492"/>
              </a:lnSpc>
              <a:buFont typeface="Arial"/>
              <a:buChar char="•"/>
            </a:pPr>
            <a:r>
              <a:rPr lang="en-US" sz="42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Enables robust identification of celestial objects in expansive datasets</a:t>
            </a:r>
          </a:p>
          <a:p>
            <a:pPr algn="l">
              <a:lnSpc>
                <a:spcPts val="549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694561"/>
            <a:ext cx="18288000" cy="756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608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Compares three feed-forward ANN variants: baseline, regularized, and GA-optimized</a:t>
            </a:r>
          </a:p>
          <a:p>
            <a:pPr algn="just" marL="734059" indent="-367030" lvl="1">
              <a:lnSpc>
                <a:spcPts val="608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models trained on identical feature-engineered photometric dataset (100,000 samples, 13 features)</a:t>
            </a:r>
          </a:p>
          <a:p>
            <a:pPr algn="just" marL="734059" indent="-367030" lvl="1">
              <a:lnSpc>
                <a:spcPts val="608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Stratified 60-20-20 train/validation/test split ensures fair evaluation</a:t>
            </a:r>
          </a:p>
          <a:p>
            <a:pPr algn="just" marL="734059" indent="-367030" lvl="1">
              <a:lnSpc>
                <a:spcPts val="608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Genetic Algorithm used to automatically discover optimal ANN architecture</a:t>
            </a:r>
          </a:p>
          <a:p>
            <a:pPr algn="just" marL="734059" indent="-367030" lvl="1">
              <a:lnSpc>
                <a:spcPts val="608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 assessed using accuracy, precision, recall, F1-score, and confusion matrices</a:t>
            </a:r>
          </a:p>
          <a:p>
            <a:pPr algn="just" marL="734059" indent="-367030" lvl="1">
              <a:lnSpc>
                <a:spcPts val="608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Objective: identify ANN design choices that improve astronomical classification performance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452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Literature Review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58315"/>
            <a:ext cx="15590520" cy="852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Review - Decision Tree Approaches</a:t>
            </a:r>
          </a:p>
          <a:p>
            <a:pPr algn="l">
              <a:lnSpc>
                <a:spcPts val="3750"/>
              </a:lnSpc>
            </a:pP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Ball et al. (SDSS DR3 Classification)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Objective: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Classification of 142+ million astronomical objects from SDSS DR3 using machine learning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Methodology: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Algorithm: Axis-parallel decision trees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Training data: 477,068 spectroscopically classified objects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Classes: Galaxies, Stars, QSOs, and NSNGs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 Results: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Completeness: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Galaxies (98.9%), Stars (91.6%), NSNGs (88.5%)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Efficiency: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Galaxies (98.3%), Stars (93.5%), NSNGs (94.5%)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Reliable classifications for magnitude r ≤ 20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Provided probability estimates for each class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</a:t>
            </a:r>
            <a:r>
              <a:rPr lang="en-US" sz="30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Limitations &amp; Insights: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Inevitable extrapolation from spectroscopic to photometric regime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Performance varies significantly across different object classes</a:t>
            </a:r>
          </a:p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Required extensive supercomputing resources for parameter optimization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113" y="679028"/>
            <a:ext cx="16001676" cy="945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 - Neural Network Approaches</a:t>
            </a: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Cavuoti et al. (MLPQNA Classification)</a:t>
            </a: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•Disentangle different spectral classes using neural network-based MLPQNA model</a:t>
            </a: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Methodology: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•Algorithm: Multi-Layer Perceptron with Quasi Newton Algorithm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•Input features: 10 photometric colors from optical data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•Three experimental categories for classification tasks</a:t>
            </a: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Results: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efficiency: 90%</a:t>
            </a: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across classification tasks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•Successfully identified 3.6M QSO candidates (529K robust candidates)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•10 colors performed better than standard 4-color approach</a:t>
            </a: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Challenges: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•Unable to separate AGNs from normal galaxies using optical data alone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•Multiplicative propagation of errors in hierarchical classification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•Quality filtering required based on user-specific needs</a:t>
            </a: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 Finding:</a:t>
            </a: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•Direct classification preferred over hierarchical pairwise approaches</a:t>
            </a:r>
          </a:p>
          <a:p>
            <a:pPr algn="ctr">
              <a:lnSpc>
                <a:spcPts val="395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07958"/>
            <a:ext cx="15590520" cy="434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vast volume of astronomical data from modern sky surveys makes manual classification of stars, galaxies, and quasars inefficient and error-prone. This project aims to automate and enhance the accuracy of astronomical object classification using machine learning techniques.</a:t>
            </a: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Objectives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35642"/>
            <a:ext cx="15590520" cy="907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Develop and implement machine learning models to accurately classify stars, galaxies, and quasars from survey data.</a:t>
            </a:r>
          </a:p>
          <a:p>
            <a:pPr algn="l" marL="906780" indent="-453390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Create a robust data preprocessing pipeline including cleaning, normalization, and feature selection.</a:t>
            </a:r>
          </a:p>
          <a:p>
            <a:pPr algn="l" marL="906780" indent="-453390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Evaluate model performance using metrics like accuracy, precision, and recall to ensure reliable classification.</a:t>
            </a:r>
          </a:p>
          <a:p>
            <a:pPr algn="l" marL="906780" indent="-453390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Compare different classifiers including Decision Tree, Random Forest and ANN to identify the best-performing model.</a:t>
            </a:r>
          </a:p>
          <a:p>
            <a:pPr algn="l" marL="906780" indent="-453390" lvl="1">
              <a:lnSpc>
                <a:spcPts val="558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Identify ANN design choices that improve astronomical classification performance. Baseline, regularized, and GA-optimized.</a:t>
            </a:r>
          </a:p>
          <a:p>
            <a:pPr algn="l">
              <a:lnSpc>
                <a:spcPts val="5586"/>
              </a:lnSpc>
            </a:pP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Proposed Methodology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0492" y="2085585"/>
            <a:ext cx="16363474" cy="811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Collection: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Obtained labeled SDSS photometric data of Stars, Galaxies, and Quasars.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 &amp; Feature Engineering: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Handled missing values, computed color indices and flux ratios, encoded labels, and applied RobustScaler normalization.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Splitting: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Performed stratified 60-20-20 split into training, validation, and test sets.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Regularized ANN Design: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Built deep feed-forward ANN with batch normalization, dropout, and L2 regularization to improve generalization.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GA-Based Architecture Optimization: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Used Genetic Algorithm to evolve ANN architecture (layers, neurons, dropout, L2) based on validation accuracy.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Training</a:t>
            </a: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Trained ANN variants using Adam optimizer with EarlyStopping and model checkpointing.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Evaluation: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Assessed performance using accuracy, precision, recall, F1-score, log-loss, and confusion matrices.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Explainable AI Analysis: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Applied LIME and SHAP to interpret feature importance and model predictions.</a:t>
            </a:r>
          </a:p>
          <a:p>
            <a:pPr algn="l">
              <a:lnSpc>
                <a:spcPts val="3446"/>
              </a:lnSpc>
            </a:pPr>
            <a:r>
              <a:rPr lang="en-US" sz="22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Comparative Analysis:</a:t>
            </a:r>
          </a:p>
          <a:p>
            <a:pPr algn="l">
              <a:lnSpc>
                <a:spcPts val="3446"/>
              </a:lnSpc>
            </a:pPr>
            <a:r>
              <a:rPr lang="en-US" sz="22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Compared regularized ANN and GA-optimized ANN in terms of performance, overfitting, and complexity.</a:t>
            </a:r>
          </a:p>
          <a:p>
            <a:pPr algn="l">
              <a:lnSpc>
                <a:spcPts val="344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06507" y="153544"/>
            <a:ext cx="5421519" cy="10133456"/>
          </a:xfrm>
          <a:custGeom>
            <a:avLst/>
            <a:gdLst/>
            <a:ahLst/>
            <a:cxnLst/>
            <a:rect r="r" b="b" t="t" l="l"/>
            <a:pathLst>
              <a:path h="10133456" w="5421519">
                <a:moveTo>
                  <a:pt x="0" y="0"/>
                </a:moveTo>
                <a:lnTo>
                  <a:pt x="5421519" y="0"/>
                </a:lnTo>
                <a:lnTo>
                  <a:pt x="5421519" y="10133456"/>
                </a:lnTo>
                <a:lnTo>
                  <a:pt x="0" y="101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5" t="-2559" r="0" b="-255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Result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831783"/>
            <a:ext cx="15590520" cy="638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&lt;in tabular, graphical, figures &gt;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Outcome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27007"/>
            <a:ext cx="15590520" cy="714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Research Paper:</a:t>
            </a: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 research paper on classifying stars, galaxies, and quasars using regularized and GA-optimized neural networks has been drafted and is planned for submission next semester.</a:t>
            </a: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Work Completed This Semester: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Designed and trained a regularized deep ANN for astronomical data classification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Developed a Genetic Algorithm to automatically optimize ANN architecture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Applied LIME and SHAP to understand how the models make predictions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Performed detailed comparison between ANN variants</a:t>
            </a: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Planned Next Semester: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 research paper to a suitable conference or journal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Extend experiments on larger astronomical datasets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Refine model evaluation and analysis</a:t>
            </a:r>
          </a:p>
          <a:p>
            <a:pPr algn="just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17483"/>
            <a:ext cx="15590520" cy="497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1.Ball, N. M., &amp; Brunner, R. J. (2006). Data Mining and Machine Learning in Astronomy. MNRAS, 372(2), 614-626.</a:t>
            </a:r>
          </a:p>
          <a:p>
            <a:pPr algn="l">
              <a:lnSpc>
                <a:spcPts val="5712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2.Cavuoti, S., Brescia, M., &amp; Longo, G. (2015). Machine Learning for SDSS Classification. MNRAS, 450(4), 3893-3905.</a:t>
            </a:r>
          </a:p>
          <a:p>
            <a:pPr algn="l">
              <a:lnSpc>
                <a:spcPts val="5712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3.Du Buisson, S., et al. (2016). Automated Classification of SDSS Transients. MNRAS, 460(3), 3076-3092.</a:t>
            </a: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927700"/>
            <a:ext cx="7886700" cy="1988344"/>
            <a:chOff x="0" y="0"/>
            <a:chExt cx="105156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56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6" r="0" b="-272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05156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DAHBaRhQdTQ</dc:identifier>
  <dcterms:modified xsi:type="dcterms:W3CDTF">2011-08-01T06:04:30Z</dcterms:modified>
  <cp:revision>1</cp:revision>
  <dc:title>PBL-4 PPT Sample.pptx</dc:title>
</cp:coreProperties>
</file>